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1675"/>
  <p:notesSz cx="6858000" cy="12191675"/>
  <p:embeddedFontLst>
    <p:embeddedFont>
      <p:font typeface="Cambria Math"/>
      <p:regular r:id="rId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CambriaMath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Network-Embedded Seed Degeneration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65760" y="6400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Schematic of within-node and between-node disease dynamics over a single season t → t+1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1097280"/>
            <a:ext cx="3657600" cy="512064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74320" y="1143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(a) Network state at season 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 flipH="1" rot="10800000">
            <a:off x="978408" y="2167128"/>
            <a:ext cx="1097280" cy="1005840"/>
          </a:xfrm>
          <a:prstGeom prst="straightConnector1">
            <a:avLst/>
          </a:prstGeom>
          <a:noFill/>
          <a:ln cap="flat" cmpd="sng" w="3067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" name="Google Shape;21;p3"/>
          <p:cNvSpPr/>
          <p:nvPr/>
        </p:nvSpPr>
        <p:spPr>
          <a:xfrm>
            <a:off x="1252728" y="2532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w=25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 rot="10800000">
            <a:off x="2075688" y="2167128"/>
            <a:ext cx="1097280" cy="1005840"/>
          </a:xfrm>
          <a:prstGeom prst="straightConnector1">
            <a:avLst/>
          </a:prstGeom>
          <a:noFill/>
          <a:ln cap="flat" cmpd="sng" w="2222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" name="Google Shape;23;p3"/>
          <p:cNvSpPr/>
          <p:nvPr/>
        </p:nvSpPr>
        <p:spPr>
          <a:xfrm>
            <a:off x="2350008" y="2532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w=15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 flipH="1" rot="10800000">
            <a:off x="978408" y="2167128"/>
            <a:ext cx="1097280" cy="2468880"/>
          </a:xfrm>
          <a:prstGeom prst="straightConnector1">
            <a:avLst/>
          </a:prstGeom>
          <a:noFill/>
          <a:ln cap="flat" cmpd="sng" w="3492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" name="Google Shape;25;p3"/>
          <p:cNvSpPr/>
          <p:nvPr/>
        </p:nvSpPr>
        <p:spPr>
          <a:xfrm>
            <a:off x="1252728" y="3264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w=30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 rot="10800000">
            <a:off x="2075688" y="2167128"/>
            <a:ext cx="1097280" cy="2468880"/>
          </a:xfrm>
          <a:prstGeom prst="straightConnector1">
            <a:avLst/>
          </a:prstGeom>
          <a:noFill/>
          <a:ln cap="flat" cmpd="sng" w="1797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" name="Google Shape;27;p3"/>
          <p:cNvSpPr/>
          <p:nvPr/>
        </p:nvSpPr>
        <p:spPr>
          <a:xfrm>
            <a:off x="2350008" y="3264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w=10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3"/>
          <p:cNvCxnSpPr/>
          <p:nvPr/>
        </p:nvCxnSpPr>
        <p:spPr>
          <a:xfrm flipH="1" rot="10800000">
            <a:off x="2075688" y="4636008"/>
            <a:ext cx="1097280" cy="1005840"/>
          </a:xfrm>
          <a:prstGeom prst="straightConnector1">
            <a:avLst/>
          </a:prstGeom>
          <a:noFill/>
          <a:ln cap="flat" cmpd="sng" w="1627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" name="Google Shape;29;p3"/>
          <p:cNvSpPr/>
          <p:nvPr/>
        </p:nvSpPr>
        <p:spPr>
          <a:xfrm>
            <a:off x="2350008" y="50017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w=8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978408" y="3172968"/>
            <a:ext cx="0" cy="1463040"/>
          </a:xfrm>
          <a:prstGeom prst="straightConnector1">
            <a:avLst/>
          </a:prstGeom>
          <a:noFill/>
          <a:ln cap="flat" cmpd="sng" w="26450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" name="Google Shape;31;p3"/>
          <p:cNvSpPr/>
          <p:nvPr/>
        </p:nvSpPr>
        <p:spPr>
          <a:xfrm>
            <a:off x="704088" y="376732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w=20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783080" y="1874520"/>
            <a:ext cx="585216" cy="585216"/>
          </a:xfrm>
          <a:prstGeom prst="ellipse">
            <a:avLst/>
          </a:prstGeom>
          <a:solidFill>
            <a:srgbClr val="A5C380"/>
          </a:solidFill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1783080" y="187452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2414016" y="196596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pHS=0.45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85800" y="2880360"/>
            <a:ext cx="585216" cy="585216"/>
          </a:xfrm>
          <a:prstGeom prst="ellipse">
            <a:avLst/>
          </a:prstGeom>
          <a:solidFill>
            <a:srgbClr val="55EB80"/>
          </a:solidFill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85800" y="288036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1316736" y="29718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pHS=0.85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880360" y="2880360"/>
            <a:ext cx="585216" cy="585216"/>
          </a:xfrm>
          <a:prstGeom prst="ellipse">
            <a:avLst/>
          </a:prstGeom>
          <a:solidFill>
            <a:srgbClr val="91CD80"/>
          </a:solidFill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2880360" y="288036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3511296" y="29718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pHS=0.55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85800" y="4343400"/>
            <a:ext cx="585216" cy="585216"/>
          </a:xfrm>
          <a:prstGeom prst="ellipse">
            <a:avLst/>
          </a:prstGeom>
          <a:solidFill>
            <a:srgbClr val="63E480"/>
          </a:solidFill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685800" y="434340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316736" y="44348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pHS=0.78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880360" y="4343400"/>
            <a:ext cx="585216" cy="585216"/>
          </a:xfrm>
          <a:prstGeom prst="ellipse">
            <a:avLst/>
          </a:prstGeom>
          <a:solidFill>
            <a:srgbClr val="B9B980"/>
          </a:solidFill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2880360" y="434340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511296" y="44348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pHS=0.35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783080" y="5349240"/>
            <a:ext cx="585216" cy="585216"/>
          </a:xfrm>
          <a:prstGeom prst="ellipse">
            <a:avLst/>
          </a:prstGeom>
          <a:solidFill>
            <a:srgbClr val="C3B480"/>
          </a:solidFill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1783080" y="53492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414016" y="544068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pHS=0.30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65760" y="576072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Edge weights w_ji = transaction volume (kg)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65760" y="594360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Node color: green = healthy seed, red = diseased seed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114800" y="1097280"/>
            <a:ext cx="4114800" cy="512064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114800" y="11430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(b) Within-node dynamics at node 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297680" y="1554480"/>
            <a:ext cx="3749040" cy="77724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389120" y="1600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Step 1 — Seed mixing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389120" y="1828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mbria Math"/>
              <a:buNone/>
            </a:pPr>
            <a:r>
              <a:rPr b="0" i="1" lang="en-US" sz="1300" u="none" cap="none" strike="noStrike">
                <a:solidFill>
                  <a:srgbClr val="1F2937"/>
                </a:solidFill>
                <a:latin typeface="Cambria Math"/>
                <a:ea typeface="Cambria Math"/>
                <a:cs typeface="Cambria Math"/>
                <a:sym typeface="Cambria Math"/>
              </a:rPr>
              <a:t>pHS_mixᵢ(t) = Σⱼ wⱼᵢ · pHSⱼ(t) / Σⱼ wⱼᵢ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297680" y="2423160"/>
            <a:ext cx="3749040" cy="77724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389120" y="24688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Step 2 — Intervention override (if i ∈ succeeded)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389120" y="2697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mbria Math"/>
              <a:buNone/>
            </a:pPr>
            <a:r>
              <a:rPr b="0" i="1" lang="en-US" sz="1200" u="none" cap="none" strike="noStrike">
                <a:solidFill>
                  <a:srgbClr val="166534"/>
                </a:solidFill>
                <a:latin typeface="Cambria Math"/>
                <a:ea typeface="Cambria Math"/>
                <a:cs typeface="Cambria Math"/>
                <a:sym typeface="Cambria Math"/>
              </a:rPr>
              <a:t>pHS_mixᵢ(t) ← pHSₐ (where a ∈ {CS, QDS})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297680" y="3291840"/>
            <a:ext cx="3749040" cy="233172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389120" y="33375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Step 3 — Within-season disease dynamics (onesim)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389120" y="3566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Plant K·pHS_mix healthy + K·(1−pHS_mix) diseased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389120" y="379476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Transmission: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389120" y="3977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mbria Math"/>
              <a:buNone/>
            </a:pPr>
            <a:r>
              <a:rPr b="0" i="1" lang="en-US" sz="900" u="none" cap="none" strike="noStrike">
                <a:solidFill>
                  <a:srgbClr val="1F2937"/>
                </a:solidFill>
                <a:latin typeface="Cambria Math"/>
                <a:ea typeface="Cambria Math"/>
                <a:cs typeface="Cambria Math"/>
                <a:sym typeface="Cambria Math"/>
              </a:rPr>
              <a:t>HPᵢ = K·pHS_mix − β w h m (K·pDS)(K·pHS) − β w h m E·K·pHS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389120" y="425196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Roguing &amp; seed production: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389120" y="44348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mbria Math"/>
              <a:buNone/>
            </a:pPr>
            <a:r>
              <a:rPr b="0" i="1" lang="en-US" sz="1000" u="none" cap="none" strike="noStrike">
                <a:solidFill>
                  <a:srgbClr val="1F2937"/>
                </a:solidFill>
                <a:latin typeface="Cambria Math"/>
                <a:ea typeface="Cambria Math"/>
                <a:cs typeface="Cambria Math"/>
                <a:sym typeface="Cambria Math"/>
              </a:rPr>
              <a:t>DP = α · DPbr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389120" y="46634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mbria Math"/>
              <a:buNone/>
            </a:pPr>
            <a:r>
              <a:rPr b="0" i="1" lang="en-US" sz="1000" u="none" cap="none" strike="noStrike">
                <a:solidFill>
                  <a:srgbClr val="1F2937"/>
                </a:solidFill>
                <a:latin typeface="Cambria Math"/>
                <a:ea typeface="Cambria Math"/>
                <a:cs typeface="Cambria Math"/>
                <a:sym typeface="Cambria Math"/>
              </a:rPr>
              <a:t>HS = g(HP + r·DP);  DS = z·c·g·(1−r)·DP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389120" y="493776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Outputs: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389120" y="51206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mbria Math"/>
              <a:buNone/>
            </a:pPr>
            <a:r>
              <a:rPr b="0" i="1" lang="en-US" sz="1000" u="none" cap="none" strike="noStrike">
                <a:solidFill>
                  <a:srgbClr val="1F2937"/>
                </a:solidFill>
                <a:latin typeface="Cambria Math"/>
                <a:ea typeface="Cambria Math"/>
                <a:cs typeface="Cambria Math"/>
                <a:sym typeface="Cambria Math"/>
              </a:rPr>
              <a:t>pHSᵢ(t+1) = HS / (HS + DS)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389120" y="53492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mbria Math"/>
              <a:buNone/>
            </a:pPr>
            <a:r>
              <a:rPr b="0" i="1" lang="en-US" sz="900" u="none" cap="none" strike="noStrike">
                <a:solidFill>
                  <a:srgbClr val="1F2937"/>
                </a:solidFill>
                <a:latin typeface="Cambria Math"/>
                <a:ea typeface="Cambria Math"/>
                <a:cs typeface="Cambria Math"/>
                <a:sym typeface="Cambria Math"/>
              </a:rPr>
              <a:t>YLᵢ(t) = maY − Yldᵢ(t)  [from Beta yield func.]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206240" y="576072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Stochastic params w, m, α, z drawn from truncated N each season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206240" y="594360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Repeated for every node i ∈ V each season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412480" y="1097280"/>
            <a:ext cx="3566160" cy="512064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8412480" y="1143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(c) Distribution strategies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503920" y="14630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 fn S(G, YL_state) selects k nodes per season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549640" y="1874520"/>
            <a:ext cx="32918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549640" y="1874520"/>
            <a:ext cx="91440" cy="68580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732520" y="19202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732520" y="213055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Uniform sample of k nodes (null model)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549640" y="2651760"/>
            <a:ext cx="32918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549640" y="2651760"/>
            <a:ext cx="91440" cy="68580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8732520" y="269748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Surveillance 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732520" y="290779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Neighbors of nodes with highest YLᵢ(t−1)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549640" y="3429000"/>
            <a:ext cx="32918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549640" y="3429000"/>
            <a:ext cx="91440" cy="68580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732520" y="34747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Network metric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732520" y="368503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Top-k by betweenness centrality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549640" y="4206240"/>
            <a:ext cx="32918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8549640" y="4206240"/>
            <a:ext cx="91440" cy="6858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732520" y="425196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Convenience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732520" y="446227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Nodes in accessible regions ⊆ R*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8549640" y="5212080"/>
            <a:ext cx="3291840" cy="86868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8641080" y="52578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Risk modifiers (Bernoulli per season)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641080" y="54864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mbria Math"/>
              <a:buNone/>
            </a:pPr>
            <a:r>
              <a:rPr b="0" i="1" lang="en-US" sz="1100" u="none" cap="none" strike="noStrike">
                <a:solidFill>
                  <a:srgbClr val="1F2937"/>
                </a:solidFill>
                <a:latin typeface="Cambria Math"/>
                <a:ea typeface="Cambria Math"/>
                <a:cs typeface="Cambria Math"/>
                <a:sym typeface="Cambria Math"/>
              </a:rPr>
              <a:t>P(success at i ∈ targeted) = ρ · 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641080" y="57150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ρ = seed availability (supply)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ω = willingness to accept (demand)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Iterate over T seasons. Output per replicate: AUDPC = Σ (YL_t + YL_{t+1})/2,  final-season YL_T,  final pHS_T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