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6" r:id="rId4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118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8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16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5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3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1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4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1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46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61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0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D6B3B-E92C-438A-A041-2D534B55E6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A1F3A-97F6-4C68-9C89-FA76D6F88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74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BEFF-6F40-5738-1CFC-C8222F9A1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SeedHealth</a:t>
            </a:r>
            <a:r>
              <a:rPr lang="en-US" dirty="0"/>
              <a:t> Framework Integration within a Network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AFFA3-C8BA-E7C9-0497-7191735F9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use the </a:t>
            </a:r>
            <a:r>
              <a:rPr lang="en-US" dirty="0" err="1"/>
              <a:t>SeedHealth</a:t>
            </a:r>
            <a:r>
              <a:rPr lang="en-US" dirty="0"/>
              <a:t> framework to model within node seed degeneration by cycle (time step)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Assumptions (of the toy example):</a:t>
            </a:r>
          </a:p>
          <a:p>
            <a:pPr lvl="1"/>
            <a:r>
              <a:rPr lang="en-US" dirty="0"/>
              <a:t>Static network seed trade volumes </a:t>
            </a:r>
          </a:p>
          <a:p>
            <a:pPr lvl="1"/>
            <a:r>
              <a:rPr lang="en-US" dirty="0"/>
              <a:t>Other </a:t>
            </a:r>
            <a:r>
              <a:rPr lang="en-US" dirty="0" err="1"/>
              <a:t>SeedHealth</a:t>
            </a:r>
            <a:r>
              <a:rPr lang="en-US" dirty="0"/>
              <a:t> parameters (W and Z) are constant among node types </a:t>
            </a:r>
          </a:p>
          <a:p>
            <a:pPr lvl="1"/>
            <a:r>
              <a:rPr lang="en-US" dirty="0"/>
              <a:t>For this methods diagram, we are not using a stochastic version of </a:t>
            </a:r>
            <a:r>
              <a:rPr lang="en-US" dirty="0" err="1"/>
              <a:t>SeedHealth</a:t>
            </a:r>
            <a:r>
              <a:rPr lang="en-US" dirty="0"/>
              <a:t> (parameters are set as fixed values) </a:t>
            </a:r>
          </a:p>
          <a:p>
            <a:pPr marL="609585" lvl="1" indent="0">
              <a:buNone/>
            </a:pPr>
            <a:endParaRPr lang="en-US" dirty="0"/>
          </a:p>
          <a:p>
            <a:r>
              <a:rPr lang="en-US" u="sng" dirty="0"/>
              <a:t>In the final model, we will include different parameters for each node type/location. </a:t>
            </a:r>
            <a:r>
              <a:rPr lang="en-US" u="sng" dirty="0">
                <a:highlight>
                  <a:srgbClr val="FFFF00"/>
                </a:highlight>
              </a:rPr>
              <a:t>This does not change the network integration itself</a:t>
            </a:r>
            <a:r>
              <a:rPr lang="en-US" u="sng" dirty="0"/>
              <a:t>, only the </a:t>
            </a:r>
            <a:r>
              <a:rPr lang="en-US" u="sng" dirty="0" err="1"/>
              <a:t>SeedHealth</a:t>
            </a:r>
            <a:r>
              <a:rPr lang="en-US" u="sng" dirty="0"/>
              <a:t> input parameters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630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0C41A-71EC-AAD5-897C-FE14D398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524" y="3688291"/>
            <a:ext cx="10515600" cy="1767417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632645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8DCD56-7F87-A0BE-0907-B915479BA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5" y="-41671"/>
            <a:ext cx="3879777" cy="26079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3C3611-5630-B74D-6D4C-3AAB6A9BC3C3}"/>
                  </a:ext>
                </a:extLst>
              </p:cNvPr>
              <p:cNvSpPr txBox="1"/>
              <p:nvPr/>
            </p:nvSpPr>
            <p:spPr>
              <a:xfrm>
                <a:off x="3958700" y="172399"/>
                <a:ext cx="4500400" cy="1132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We set the proportion of healthy seed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𝑝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600" dirty="0"/>
                  <a:t> in each node using EKE, and calculate the proportion of seed transferred to the destination from each source, </a:t>
                </a:r>
                <a14:m>
                  <m:oMath xmlns:m="http://schemas.openxmlformats.org/officeDocument/2006/math">
                    <m:r>
                      <a:rPr lang="en-US" i="1"/>
                      <m:t>𝑀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𝑖</m:t>
                        </m:r>
                      </m:e>
                      <m:e>
                        <m:r>
                          <a:rPr lang="ar-AE" i="1"/>
                          <m:t>𝑗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3C3611-5630-B74D-6D4C-3AAB6A9BC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700" y="172399"/>
                <a:ext cx="4500400" cy="1132426"/>
              </a:xfrm>
              <a:prstGeom prst="rect">
                <a:avLst/>
              </a:prstGeom>
              <a:blipFill>
                <a:blip r:embed="rId3"/>
                <a:stretch>
                  <a:fillRect l="-677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35A73D-47B5-240A-1093-44B4E272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865242"/>
              </p:ext>
            </p:extLst>
          </p:nvPr>
        </p:nvGraphicFramePr>
        <p:xfrm>
          <a:off x="8648276" y="363786"/>
          <a:ext cx="3074391" cy="163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8156">
                  <a:extLst>
                    <a:ext uri="{9D8B030D-6E8A-4147-A177-3AD203B41FA5}">
                      <a16:colId xmlns:a16="http://schemas.microsoft.com/office/drawing/2014/main" val="314596834"/>
                    </a:ext>
                  </a:extLst>
                </a:gridCol>
                <a:gridCol w="379981">
                  <a:extLst>
                    <a:ext uri="{9D8B030D-6E8A-4147-A177-3AD203B41FA5}">
                      <a16:colId xmlns:a16="http://schemas.microsoft.com/office/drawing/2014/main" val="1467706264"/>
                    </a:ext>
                  </a:extLst>
                </a:gridCol>
                <a:gridCol w="379981">
                  <a:extLst>
                    <a:ext uri="{9D8B030D-6E8A-4147-A177-3AD203B41FA5}">
                      <a16:colId xmlns:a16="http://schemas.microsoft.com/office/drawing/2014/main" val="1597639335"/>
                    </a:ext>
                  </a:extLst>
                </a:gridCol>
                <a:gridCol w="310892">
                  <a:extLst>
                    <a:ext uri="{9D8B030D-6E8A-4147-A177-3AD203B41FA5}">
                      <a16:colId xmlns:a16="http://schemas.microsoft.com/office/drawing/2014/main" val="3474354222"/>
                    </a:ext>
                  </a:extLst>
                </a:gridCol>
                <a:gridCol w="379981">
                  <a:extLst>
                    <a:ext uri="{9D8B030D-6E8A-4147-A177-3AD203B41FA5}">
                      <a16:colId xmlns:a16="http://schemas.microsoft.com/office/drawing/2014/main" val="3719959468"/>
                    </a:ext>
                  </a:extLst>
                </a:gridCol>
                <a:gridCol w="379981">
                  <a:extLst>
                    <a:ext uri="{9D8B030D-6E8A-4147-A177-3AD203B41FA5}">
                      <a16:colId xmlns:a16="http://schemas.microsoft.com/office/drawing/2014/main" val="2414831609"/>
                    </a:ext>
                  </a:extLst>
                </a:gridCol>
                <a:gridCol w="345438">
                  <a:extLst>
                    <a:ext uri="{9D8B030D-6E8A-4147-A177-3AD203B41FA5}">
                      <a16:colId xmlns:a16="http://schemas.microsoft.com/office/drawing/2014/main" val="2995664919"/>
                    </a:ext>
                  </a:extLst>
                </a:gridCol>
                <a:gridCol w="379981">
                  <a:extLst>
                    <a:ext uri="{9D8B030D-6E8A-4147-A177-3AD203B41FA5}">
                      <a16:colId xmlns:a16="http://schemas.microsoft.com/office/drawing/2014/main" val="1118187456"/>
                    </a:ext>
                  </a:extLst>
                </a:gridCol>
              </a:tblGrid>
              <a:tr h="16124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From \ To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Farmer_1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Farmer_2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NGO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Farmer_3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Farmer_4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Trader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Farm_ass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62039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Farmer_1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65514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Farmer_2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56421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NGO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0.50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0.60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650137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Farmer_3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74928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Farmer_4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27998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Trader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·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1513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Farm_ass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0.50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0.40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·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34658445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400F1E7-59B9-1F4F-6712-EDDC458300A3}"/>
              </a:ext>
            </a:extLst>
          </p:cNvPr>
          <p:cNvSpPr txBox="1"/>
          <p:nvPr/>
        </p:nvSpPr>
        <p:spPr>
          <a:xfrm>
            <a:off x="3958700" y="1287575"/>
            <a:ext cx="812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M[i, j] = w[i, j] / Σₖ w[k, j]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6E7613-BAA5-BB1B-F4E4-6821479D2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89" y="2052051"/>
            <a:ext cx="3881421" cy="2609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484A69-D357-6E1A-DDA5-7EDEAADAF50A}"/>
                  </a:ext>
                </a:extLst>
              </p:cNvPr>
              <p:cNvSpPr txBox="1"/>
              <p:nvPr/>
            </p:nvSpPr>
            <p:spPr>
              <a:xfrm>
                <a:off x="3864276" y="2095931"/>
                <a:ext cx="4154309" cy="626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We calculate the proportion of volume weighted seed mixing,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mix</m:t>
                        </m:r>
                        <m:r>
                          <a:rPr lang="en-US" i="1"/>
                          <m:t>𝑖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484A69-D357-6E1A-DDA5-7EDEAADAF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276" y="2095931"/>
                <a:ext cx="4154309" cy="626069"/>
              </a:xfrm>
              <a:prstGeom prst="rect">
                <a:avLst/>
              </a:prstGeom>
              <a:blipFill>
                <a:blip r:embed="rId5"/>
                <a:stretch>
                  <a:fillRect l="-881" t="-2913" b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0F95A0A-D638-0468-15CC-418780332A6D}"/>
              </a:ext>
            </a:extLst>
          </p:cNvPr>
          <p:cNvSpPr txBox="1"/>
          <p:nvPr/>
        </p:nvSpPr>
        <p:spPr>
          <a:xfrm>
            <a:off x="3814401" y="2947235"/>
            <a:ext cx="4730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p_mix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ᵢ(t) = Σⱼ wⱼᵢ · pⱼ(t − 1) / Σⱼ wⱼᵢ</a:t>
            </a:r>
            <a:endParaRPr lang="en-US" sz="2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0F9A7B-4054-8042-10EB-364727DAE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082595"/>
              </p:ext>
            </p:extLst>
          </p:nvPr>
        </p:nvGraphicFramePr>
        <p:xfrm>
          <a:off x="8634036" y="2495943"/>
          <a:ext cx="3842591" cy="168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6354">
                  <a:extLst>
                    <a:ext uri="{9D8B030D-6E8A-4147-A177-3AD203B41FA5}">
                      <a16:colId xmlns:a16="http://schemas.microsoft.com/office/drawing/2014/main" val="2962824493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1210949435"/>
                    </a:ext>
                  </a:extLst>
                </a:gridCol>
                <a:gridCol w="1460821">
                  <a:extLst>
                    <a:ext uri="{9D8B030D-6E8A-4147-A177-3AD203B41FA5}">
                      <a16:colId xmlns:a16="http://schemas.microsoft.com/office/drawing/2014/main" val="3594443378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1125244989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1877658261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3565756261"/>
                    </a:ext>
                  </a:extLst>
                </a:gridCol>
              </a:tblGrid>
              <a:tr h="25572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Node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p(t-1) at t=1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Calculation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 err="1">
                          <a:effectLst/>
                        </a:rPr>
                        <a:t>p_mix</a:t>
                      </a:r>
                      <a:r>
                        <a:rPr lang="en-US" sz="600" dirty="0">
                          <a:effectLst/>
                        </a:rPr>
                        <a:t>(t)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p(t)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YL (%)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57106033"/>
                  </a:ext>
                </a:extLst>
              </a:tr>
              <a:tr h="20328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Farmer_1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0.800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(1.00·0.950)/1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0.9500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0.9154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6.16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24286295"/>
                  </a:ext>
                </a:extLst>
              </a:tr>
              <a:tr h="20328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Farmer_2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0.800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(1.00·0.950)/1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0.9500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0.9154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6.16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32439648"/>
                  </a:ext>
                </a:extLst>
              </a:tr>
              <a:tr h="17352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NGO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0.950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self (0.950)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0.9500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0.9154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6.16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03562944"/>
                  </a:ext>
                </a:extLst>
              </a:tr>
              <a:tr h="20328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0.800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(0.50·0.950 + 0.50·0.920)/1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0.9350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0.8908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8.04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13103168"/>
                  </a:ext>
                </a:extLst>
              </a:tr>
              <a:tr h="20328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0.800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(0.60·0.950 + 0.40·0.920)/1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0.9380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0.8957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7.66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11134018"/>
                  </a:ext>
                </a:extLst>
              </a:tr>
              <a:tr h="17352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Trader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0.930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(1.00·0.950)/1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0.9500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0.9154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6.16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37476008"/>
                  </a:ext>
                </a:extLst>
              </a:tr>
              <a:tr h="20328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Farm_ass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0.920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(1.00·0.930)/1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0.9300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0.8826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8.67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7225005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C892BA7A-D1DF-FCBD-981D-B3BFF4CCDB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0" y="4267723"/>
            <a:ext cx="3881421" cy="2609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C52E1A-5096-370B-0724-F4539C997DFC}"/>
                  </a:ext>
                </a:extLst>
              </p:cNvPr>
              <p:cNvSpPr txBox="1"/>
              <p:nvPr/>
            </p:nvSpPr>
            <p:spPr>
              <a:xfrm>
                <a:off x="3832957" y="3587990"/>
                <a:ext cx="3997632" cy="656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mix</m:t>
                        </m:r>
                        <m:r>
                          <a:rPr lang="en-US" i="1"/>
                          <m:t>𝑖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en-US" sz="1600" dirty="0"/>
                  <a:t>in the </a:t>
                </a:r>
                <a:r>
                  <a:rPr lang="en-US" sz="1600" dirty="0" err="1"/>
                  <a:t>SeedHealth</a:t>
                </a:r>
                <a:r>
                  <a:rPr lang="en-US" sz="1600" dirty="0"/>
                  <a:t> model, we update </a:t>
                </a:r>
                <a14:m>
                  <m:oMath xmlns:m="http://schemas.openxmlformats.org/officeDocument/2006/math">
                    <m:r>
                      <a:rPr lang="en-US" i="1"/>
                      <m:t>𝑝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en-US" sz="1600" dirty="0"/>
                  <a:t>and calculate </a:t>
                </a:r>
                <a14:m>
                  <m:oMath xmlns:m="http://schemas.openxmlformats.org/officeDocument/2006/math">
                    <m:r>
                      <a:rPr lang="en-US" i="1"/>
                      <m:t>𝑌𝐿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C52E1A-5096-370B-0724-F4539C997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957" y="3587990"/>
                <a:ext cx="3997632" cy="656846"/>
              </a:xfrm>
              <a:prstGeom prst="rect">
                <a:avLst/>
              </a:prstGeom>
              <a:blipFill>
                <a:blip r:embed="rId7"/>
                <a:stretch>
                  <a:fillRect l="-915" b="-1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D334D37-6169-33ED-7CAC-A3D78B63A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423524"/>
              </p:ext>
            </p:extLst>
          </p:nvPr>
        </p:nvGraphicFramePr>
        <p:xfrm>
          <a:off x="8634037" y="4568817"/>
          <a:ext cx="3842589" cy="1856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6354">
                  <a:extLst>
                    <a:ext uri="{9D8B030D-6E8A-4147-A177-3AD203B41FA5}">
                      <a16:colId xmlns:a16="http://schemas.microsoft.com/office/drawing/2014/main" val="4175889014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2473687261"/>
                    </a:ext>
                  </a:extLst>
                </a:gridCol>
                <a:gridCol w="1460819">
                  <a:extLst>
                    <a:ext uri="{9D8B030D-6E8A-4147-A177-3AD203B41FA5}">
                      <a16:colId xmlns:a16="http://schemas.microsoft.com/office/drawing/2014/main" val="1603016284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3057879207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2744900578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10682813"/>
                    </a:ext>
                  </a:extLst>
                </a:gridCol>
              </a:tblGrid>
              <a:tr h="2245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Node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p(t-1) at t=2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Calculation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p_mix(t)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p(t)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YL (%)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16854818"/>
                  </a:ext>
                </a:extLst>
              </a:tr>
              <a:tr h="22459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Farmer_1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0.915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1.00·0.915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0.9154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10.52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604798682"/>
                  </a:ext>
                </a:extLst>
              </a:tr>
              <a:tr h="22459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Farmer_2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0.915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1.00·0.915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0.9154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10.52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30965358"/>
                  </a:ext>
                </a:extLst>
              </a:tr>
              <a:tr h="22459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NGO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0.915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self (0.915)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0.9154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10.52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57133463"/>
                  </a:ext>
                </a:extLst>
              </a:tr>
              <a:tr h="22459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0.891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0.50·0.915 + 0.50·0.883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0.8990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0.8326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12.63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58135404"/>
                  </a:ext>
                </a:extLst>
              </a:tr>
              <a:tr h="22459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0.896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0.60·0.915 + 0.40·0.883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0.9023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0.8378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12.21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62153859"/>
                  </a:ext>
                </a:extLst>
              </a:tr>
              <a:tr h="22459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Trader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0.915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1.00·0.915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0.9154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10.52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96842797"/>
                  </a:ext>
                </a:extLst>
              </a:tr>
              <a:tr h="22459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Farm_ass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0.883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1.00·0.915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0.9154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10.52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3084556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4F0D907-3639-5E33-94E9-4100B358C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980259"/>
              </p:ext>
            </p:extLst>
          </p:nvPr>
        </p:nvGraphicFramePr>
        <p:xfrm>
          <a:off x="8634037" y="6932406"/>
          <a:ext cx="3842589" cy="2087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6354">
                  <a:extLst>
                    <a:ext uri="{9D8B030D-6E8A-4147-A177-3AD203B41FA5}">
                      <a16:colId xmlns:a16="http://schemas.microsoft.com/office/drawing/2014/main" val="462148700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408479540"/>
                    </a:ext>
                  </a:extLst>
                </a:gridCol>
                <a:gridCol w="1460819">
                  <a:extLst>
                    <a:ext uri="{9D8B030D-6E8A-4147-A177-3AD203B41FA5}">
                      <a16:colId xmlns:a16="http://schemas.microsoft.com/office/drawing/2014/main" val="919455889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3138468103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3679858780"/>
                    </a:ext>
                  </a:extLst>
                </a:gridCol>
                <a:gridCol w="476354">
                  <a:extLst>
                    <a:ext uri="{9D8B030D-6E8A-4147-A177-3AD203B41FA5}">
                      <a16:colId xmlns:a16="http://schemas.microsoft.com/office/drawing/2014/main" val="3115655398"/>
                    </a:ext>
                  </a:extLst>
                </a:gridCol>
              </a:tblGrid>
              <a:tr h="25761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Node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p(t-1) at t=3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Calculation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p_mix(t)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p(t)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YL (%)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28071994"/>
                  </a:ext>
                </a:extLst>
              </a:tr>
              <a:tr h="2576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Farmer_1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1.00·0.859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0.7697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17.86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71509515"/>
                  </a:ext>
                </a:extLst>
              </a:tr>
              <a:tr h="2576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Farmer_2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1.00·0.859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0.7697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17.86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04341318"/>
                  </a:ext>
                </a:extLst>
              </a:tr>
              <a:tr h="2576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NGO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self (0.859)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0.7697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17.86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68434940"/>
                  </a:ext>
                </a:extLst>
              </a:tr>
              <a:tr h="2576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0.833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0.50·0.859 + 0.50·0.859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0.7697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17.86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658531291"/>
                  </a:ext>
                </a:extLst>
              </a:tr>
              <a:tr h="2576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Farmer_4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0.838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0.60·0.859 + 0.40·0.859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0.7697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17.86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33728562"/>
                  </a:ext>
                </a:extLst>
              </a:tr>
              <a:tr h="2576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>
                          <a:effectLst/>
                        </a:rPr>
                        <a:t>Trader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1.00·0.859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0.8590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0.7697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17.86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0285665"/>
                  </a:ext>
                </a:extLst>
              </a:tr>
              <a:tr h="2576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600" dirty="0" err="1">
                          <a:effectLst/>
                        </a:rPr>
                        <a:t>Farm_ass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</a:rPr>
                        <a:t>1.00·0.859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</a:rPr>
                        <a:t>0.8590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0.7697</a:t>
                      </a:r>
                      <a:endParaRPr lang="en-US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600" dirty="0">
                          <a:effectLst/>
                          <a:latin typeface="Consolas" panose="020B0609020204030204" pitchFamily="49" charset="0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17.86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70574557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5BF656DB-5063-4413-5AFD-1534B66BFB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1" y="6496842"/>
            <a:ext cx="3881421" cy="2609088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A0C645-DC20-11AC-B601-6EBF3633835B}"/>
              </a:ext>
            </a:extLst>
          </p:cNvPr>
          <p:cNvCxnSpPr>
            <a:cxnSpLocks/>
          </p:cNvCxnSpPr>
          <p:nvPr/>
        </p:nvCxnSpPr>
        <p:spPr>
          <a:xfrm>
            <a:off x="3832956" y="-41671"/>
            <a:ext cx="0" cy="91476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0E028A7-218F-630C-6018-491D648DC468}"/>
              </a:ext>
            </a:extLst>
          </p:cNvPr>
          <p:cNvCxnSpPr>
            <a:cxnSpLocks/>
          </p:cNvCxnSpPr>
          <p:nvPr/>
        </p:nvCxnSpPr>
        <p:spPr>
          <a:xfrm>
            <a:off x="-3291" y="2113445"/>
            <a:ext cx="12225985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990F4A-8B54-B918-C433-17B211D73221}"/>
              </a:ext>
            </a:extLst>
          </p:cNvPr>
          <p:cNvCxnSpPr>
            <a:cxnSpLocks/>
          </p:cNvCxnSpPr>
          <p:nvPr/>
        </p:nvCxnSpPr>
        <p:spPr>
          <a:xfrm>
            <a:off x="-16993" y="4269339"/>
            <a:ext cx="12225985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502FDBA-3671-E53B-36E0-4C92C0EE681A}"/>
              </a:ext>
            </a:extLst>
          </p:cNvPr>
          <p:cNvCxnSpPr>
            <a:cxnSpLocks/>
          </p:cNvCxnSpPr>
          <p:nvPr/>
        </p:nvCxnSpPr>
        <p:spPr>
          <a:xfrm>
            <a:off x="-33985" y="6496842"/>
            <a:ext cx="12225985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CC1FB4C-81B8-C318-0F01-68914A7E0CA8}"/>
              </a:ext>
            </a:extLst>
          </p:cNvPr>
          <p:cNvCxnSpPr>
            <a:cxnSpLocks/>
          </p:cNvCxnSpPr>
          <p:nvPr/>
        </p:nvCxnSpPr>
        <p:spPr>
          <a:xfrm>
            <a:off x="8552736" y="-41671"/>
            <a:ext cx="0" cy="91476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CE90213-3819-D628-F152-37626DED5592}"/>
                  </a:ext>
                </a:extLst>
              </p:cNvPr>
              <p:cNvSpPr txBox="1"/>
              <p:nvPr/>
            </p:nvSpPr>
            <p:spPr>
              <a:xfrm>
                <a:off x="3871794" y="4274712"/>
                <a:ext cx="4154309" cy="626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We calculate the proportion of volume weighted seed mixing,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mix</m:t>
                        </m:r>
                        <m:r>
                          <a:rPr lang="en-US" i="1"/>
                          <m:t>𝑖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CE90213-3819-D628-F152-37626DED5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794" y="4274712"/>
                <a:ext cx="4154309" cy="626069"/>
              </a:xfrm>
              <a:prstGeom prst="rect">
                <a:avLst/>
              </a:prstGeom>
              <a:blipFill>
                <a:blip r:embed="rId9"/>
                <a:stretch>
                  <a:fillRect l="-733" t="-2913" b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84E04879-7AC4-37D1-EE0F-9F3438CED6A8}"/>
              </a:ext>
            </a:extLst>
          </p:cNvPr>
          <p:cNvSpPr txBox="1"/>
          <p:nvPr/>
        </p:nvSpPr>
        <p:spPr>
          <a:xfrm>
            <a:off x="3821919" y="5126016"/>
            <a:ext cx="4730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p_mix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ᵢ(t) = Σⱼ wⱼᵢ · pⱼ(t − 1) / Σⱼ wⱼᵢ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E9C07C-4670-DE49-4B56-08405F91EFCB}"/>
                  </a:ext>
                </a:extLst>
              </p:cNvPr>
              <p:cNvSpPr txBox="1"/>
              <p:nvPr/>
            </p:nvSpPr>
            <p:spPr>
              <a:xfrm>
                <a:off x="3840475" y="5766771"/>
                <a:ext cx="3997632" cy="656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mix</m:t>
                        </m:r>
                        <m:r>
                          <a:rPr lang="en-US" i="1"/>
                          <m:t>𝑖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en-US" sz="1600" dirty="0"/>
                  <a:t>in the </a:t>
                </a:r>
                <a:r>
                  <a:rPr lang="en-US" sz="1600" dirty="0" err="1"/>
                  <a:t>SeedHealth</a:t>
                </a:r>
                <a:r>
                  <a:rPr lang="en-US" sz="1600" dirty="0"/>
                  <a:t> model, we update </a:t>
                </a:r>
                <a14:m>
                  <m:oMath xmlns:m="http://schemas.openxmlformats.org/officeDocument/2006/math">
                    <m:r>
                      <a:rPr lang="en-US" i="1"/>
                      <m:t>𝑝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en-US" sz="1600" dirty="0"/>
                  <a:t>and calculate </a:t>
                </a:r>
                <a14:m>
                  <m:oMath xmlns:m="http://schemas.openxmlformats.org/officeDocument/2006/math">
                    <m:r>
                      <a:rPr lang="en-US" i="1"/>
                      <m:t>𝑌𝐿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E9C07C-4670-DE49-4B56-08405F91E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5" y="5766771"/>
                <a:ext cx="3997632" cy="656846"/>
              </a:xfrm>
              <a:prstGeom prst="rect">
                <a:avLst/>
              </a:prstGeom>
              <a:blipFill>
                <a:blip r:embed="rId10"/>
                <a:stretch>
                  <a:fillRect l="-762" b="-10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E600E58-100F-8C44-32FC-B43D8DD1BE0C}"/>
                  </a:ext>
                </a:extLst>
              </p:cNvPr>
              <p:cNvSpPr txBox="1"/>
              <p:nvPr/>
            </p:nvSpPr>
            <p:spPr>
              <a:xfrm>
                <a:off x="3958700" y="6792908"/>
                <a:ext cx="4154309" cy="626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We calculate the proportion of volume weighted seed mixing,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mix</m:t>
                        </m:r>
                        <m:r>
                          <a:rPr lang="en-US" i="1"/>
                          <m:t>𝑖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E600E58-100F-8C44-32FC-B43D8DD1B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700" y="6792908"/>
                <a:ext cx="4154309" cy="626069"/>
              </a:xfrm>
              <a:prstGeom prst="rect">
                <a:avLst/>
              </a:prstGeom>
              <a:blipFill>
                <a:blip r:embed="rId11"/>
                <a:stretch>
                  <a:fillRect l="-733" t="-2913" b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C857C1B2-EB54-B8EA-1EA4-7F42016CCCAD}"/>
              </a:ext>
            </a:extLst>
          </p:cNvPr>
          <p:cNvSpPr txBox="1"/>
          <p:nvPr/>
        </p:nvSpPr>
        <p:spPr>
          <a:xfrm>
            <a:off x="3908825" y="7644212"/>
            <a:ext cx="4730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p_mix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ᵢ(t) = Σⱼ wⱼᵢ · pⱼ(t − 1) / Σⱼ wⱼᵢ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23B08DC-D931-93B3-B3EB-DCE06DD1446B}"/>
                  </a:ext>
                </a:extLst>
              </p:cNvPr>
              <p:cNvSpPr txBox="1"/>
              <p:nvPr/>
            </p:nvSpPr>
            <p:spPr>
              <a:xfrm>
                <a:off x="3927381" y="8284967"/>
                <a:ext cx="3997632" cy="656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mix</m:t>
                        </m:r>
                        <m:r>
                          <a:rPr lang="en-US" i="1"/>
                          <m:t>𝑖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en-US" sz="1600" dirty="0"/>
                  <a:t>in the </a:t>
                </a:r>
                <a:r>
                  <a:rPr lang="en-US" sz="1600" dirty="0" err="1"/>
                  <a:t>SeedHealth</a:t>
                </a:r>
                <a:r>
                  <a:rPr lang="en-US" sz="1600" dirty="0"/>
                  <a:t> model, we update </a:t>
                </a:r>
                <a14:m>
                  <m:oMath xmlns:m="http://schemas.openxmlformats.org/officeDocument/2006/math">
                    <m:r>
                      <a:rPr lang="en-US" i="1"/>
                      <m:t>𝑝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en-US" sz="1600" dirty="0"/>
                  <a:t>and calculate </a:t>
                </a:r>
                <a14:m>
                  <m:oMath xmlns:m="http://schemas.openxmlformats.org/officeDocument/2006/math">
                    <m:r>
                      <a:rPr lang="en-US" i="1"/>
                      <m:t>𝑌𝐿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23B08DC-D931-93B3-B3EB-DCE06DD14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381" y="8284967"/>
                <a:ext cx="3997632" cy="656846"/>
              </a:xfrm>
              <a:prstGeom prst="rect">
                <a:avLst/>
              </a:prstGeom>
              <a:blipFill>
                <a:blip r:embed="rId12"/>
                <a:stretch>
                  <a:fillRect l="-762" b="-10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5EDEA9B2-74D7-888C-A417-E89C4FDA2F29}"/>
              </a:ext>
            </a:extLst>
          </p:cNvPr>
          <p:cNvSpPr txBox="1"/>
          <p:nvPr/>
        </p:nvSpPr>
        <p:spPr>
          <a:xfrm>
            <a:off x="-2407021" y="1021976"/>
            <a:ext cx="1490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Step 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8DF610-6AD9-B376-B4E4-B7AF73D830F8}"/>
              </a:ext>
            </a:extLst>
          </p:cNvPr>
          <p:cNvSpPr txBox="1"/>
          <p:nvPr/>
        </p:nvSpPr>
        <p:spPr>
          <a:xfrm>
            <a:off x="-2407021" y="2914235"/>
            <a:ext cx="1490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Step 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1B7D50-73FA-F4B9-71DF-1EBFBECF48BB}"/>
              </a:ext>
            </a:extLst>
          </p:cNvPr>
          <p:cNvSpPr txBox="1"/>
          <p:nvPr/>
        </p:nvSpPr>
        <p:spPr>
          <a:xfrm>
            <a:off x="-2407021" y="5126016"/>
            <a:ext cx="2077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Loop of 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9F0FA6-9855-CEDF-6FC1-27E4ACE012AD}"/>
              </a:ext>
            </a:extLst>
          </p:cNvPr>
          <p:cNvSpPr txBox="1"/>
          <p:nvPr/>
        </p:nvSpPr>
        <p:spPr>
          <a:xfrm>
            <a:off x="-2245059" y="7801386"/>
            <a:ext cx="2077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Loop of 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2FF180-3918-3E94-296F-3B7F5B6ED140}"/>
              </a:ext>
            </a:extLst>
          </p:cNvPr>
          <p:cNvSpPr txBox="1"/>
          <p:nvPr/>
        </p:nvSpPr>
        <p:spPr>
          <a:xfrm>
            <a:off x="-1949814" y="8254685"/>
            <a:ext cx="835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… 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8EBFBB-3293-FA8B-3060-0330F96230BE}"/>
              </a:ext>
            </a:extLst>
          </p:cNvPr>
          <p:cNvSpPr txBox="1"/>
          <p:nvPr/>
        </p:nvSpPr>
        <p:spPr>
          <a:xfrm>
            <a:off x="8634036" y="-48756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 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C3A64E-9C7A-3FEB-D334-263C90665077}"/>
              </a:ext>
            </a:extLst>
          </p:cNvPr>
          <p:cNvSpPr txBox="1"/>
          <p:nvPr/>
        </p:nvSpPr>
        <p:spPr>
          <a:xfrm>
            <a:off x="8634036" y="2121239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 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FAD703-A8FA-4528-7D93-50DC1EE679B5}"/>
              </a:ext>
            </a:extLst>
          </p:cNvPr>
          <p:cNvSpPr txBox="1"/>
          <p:nvPr/>
        </p:nvSpPr>
        <p:spPr>
          <a:xfrm>
            <a:off x="8634036" y="4249149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 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022CB6-8A96-D83E-0D8B-B8B31C552C06}"/>
              </a:ext>
            </a:extLst>
          </p:cNvPr>
          <p:cNvSpPr txBox="1"/>
          <p:nvPr/>
        </p:nvSpPr>
        <p:spPr>
          <a:xfrm>
            <a:off x="8601346" y="648662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 3</a:t>
            </a:r>
          </a:p>
        </p:txBody>
      </p:sp>
    </p:spTree>
    <p:extLst>
      <p:ext uri="{BB962C8B-B14F-4D97-AF65-F5344CB8AC3E}">
        <p14:creationId xmlns:p14="http://schemas.microsoft.com/office/powerpoint/2010/main" val="3946195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667</Words>
  <Application>Microsoft Office PowerPoint</Application>
  <PresentationFormat>Custom</PresentationFormat>
  <Paragraphs>239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Consolas</vt:lpstr>
      <vt:lpstr>Office Theme</vt:lpstr>
      <vt:lpstr>SeedHealth Framework Integration within a Network System</vt:lpstr>
      <vt:lpstr>Methodology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Robledo Buritica, Jacobo</dc:creator>
  <cp:lastModifiedBy>Robledo Buritica, Jacobo</cp:lastModifiedBy>
  <cp:revision>1</cp:revision>
  <dcterms:created xsi:type="dcterms:W3CDTF">2026-05-14T14:17:31Z</dcterms:created>
  <dcterms:modified xsi:type="dcterms:W3CDTF">2026-05-14T15:54:35Z</dcterms:modified>
</cp:coreProperties>
</file>